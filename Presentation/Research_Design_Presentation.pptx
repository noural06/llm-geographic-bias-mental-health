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research design and how it supports the dissertation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research problem and how it supports the dissertation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research questions and how it supports the dissertation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controlled experimental design and how it supports the dissertation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study workflow and how it supports the dissertation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dataset design and how it supports the dissertation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experimental matrix and how it supports the dissertation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prompt template and how it supports the dissertation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study variables and how it supports the dissertation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transition and how it supports the dissertation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Research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10972800" cy="5212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/>
            </a:pPr>
            <a:r>
              <a:t>Does Where You Are Shape What You Get?</a:t>
            </a:r>
            <a:br/>
            <a:r>
              <a:t>Geographic Variation in LLM Responses to Mental Health Queries</a:t>
            </a:r>
            <a:br/>
            <a:br/>
            <a:r>
              <a:t>Research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Research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10972800" cy="5212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/>
            </a:pPr>
            <a:r>
              <a:t>• LLMs are increasingly used for mental health guidance.</a:t>
            </a:r>
            <a:br/>
            <a:r>
              <a:t>• Geographic fairness has received limited attention.</a:t>
            </a:r>
            <a:br/>
            <a:r>
              <a:t>• It is unknown whether identical prompts produce different responses when only location changes.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Research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10972800" cy="5212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/>
            </a:pPr>
            <a:r>
              <a:t>RQ1: Do responses vary across geographic contexts?</a:t>
            </a:r>
            <a:br/>
            <a:br/>
            <a:r>
              <a:t>RQ2: Do lower-resource settings receive less actionable guidance?</a:t>
            </a:r>
            <a:br/>
            <a:br/>
            <a:r>
              <a:t>RQ3: What cultural assumptions appear in responses?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Controlled Experimental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10972800" cy="5212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/>
            </a:pPr>
            <a:r>
              <a:t>Independent variable:</a:t>
            </a:r>
            <a:br/>
            <a:r>
              <a:t>• Geographic location (city/country)</a:t>
            </a:r>
            <a:br/>
            <a:br/>
            <a:r>
              <a:t>Control variables:</a:t>
            </a:r>
            <a:br/>
            <a:r>
              <a:t>• Prompt wording</a:t>
            </a:r>
            <a:br/>
            <a:r>
              <a:t>• Scenario</a:t>
            </a:r>
            <a:br/>
            <a:r>
              <a:t>• Temperature</a:t>
            </a:r>
            <a:br/>
            <a:br/>
            <a:r>
              <a:t>Dependent variables:</a:t>
            </a:r>
            <a:br/>
            <a:r>
              <a:t>• NLP features</a:t>
            </a:r>
            <a:br/>
            <a:r>
              <a:t>• Statistical outcomes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Study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10972800" cy="5212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/>
            </a:pPr>
            <a:r>
              <a:t>Research Question</a:t>
            </a:r>
            <a:br/>
            <a:r>
              <a:t>↓</a:t>
            </a:r>
            <a:br/>
            <a:r>
              <a:t>Experimental Design</a:t>
            </a:r>
            <a:br/>
            <a:r>
              <a:t>↓</a:t>
            </a:r>
            <a:br/>
            <a:r>
              <a:t>Data Collection</a:t>
            </a:r>
            <a:br/>
            <a:r>
              <a:t>↓</a:t>
            </a:r>
            <a:br/>
            <a:r>
              <a:t>NLP Feature Extraction</a:t>
            </a:r>
            <a:br/>
            <a:r>
              <a:t>↓</a:t>
            </a:r>
            <a:br/>
            <a:r>
              <a:t>Statistical Analysis</a:t>
            </a:r>
            <a:br/>
            <a:r>
              <a:t>↓</a:t>
            </a:r>
            <a:br/>
            <a:r>
              <a:t>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10972800" cy="5212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/>
            </a:pPr>
            <a:r>
              <a:t>• 20 Cities</a:t>
            </a:r>
            <a:br/>
            <a:r>
              <a:t>• 8 Mental Health Scenarios</a:t>
            </a:r>
            <a:br/>
            <a:r>
              <a:t>• 7 Large Language Models</a:t>
            </a:r>
            <a:br/>
            <a:r>
              <a:t>• 1,120 Responses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Experimental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10972800" cy="5212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/>
            </a:pPr>
            <a:r>
              <a:t>20 Cities × 8 Scenarios × 7 Models = 1,120 Responses</a:t>
            </a:r>
            <a:br/>
            <a:br/>
            <a:r>
              <a:t>Each row represents one unique City × Scenario × Model combination.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Prompt Template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10972800" cy="5212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/>
            </a:pPr>
            <a:r>
              <a:t>I live in [City], [Country].</a:t>
            </a:r>
            <a:br/>
            <a:r>
              <a:t>[Mental health scenario]</a:t>
            </a:r>
            <a:br/>
            <a:br/>
            <a:r>
              <a:t>Only the location changes; all other prompt elements remain constant.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Study Variables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10972800" cy="5212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/>
            </a:pPr>
            <a:r>
              <a:t>Independent Variable:</a:t>
            </a:r>
            <a:br/>
            <a:r>
              <a:t>• Geographic location</a:t>
            </a:r>
            <a:br/>
            <a:br/>
            <a:r>
              <a:t>Dependent Variables:</a:t>
            </a:r>
            <a:br/>
            <a:r>
              <a:t>• Word count</a:t>
            </a:r>
            <a:br/>
            <a:r>
              <a:t>• Specificity</a:t>
            </a:r>
            <a:br/>
            <a:r>
              <a:t>• Themes</a:t>
            </a:r>
            <a:br/>
            <a:r>
              <a:t>• Sentiment</a:t>
            </a:r>
            <a:br/>
            <a:r>
              <a:t>• Crisis contacts</a:t>
            </a:r>
            <a:br/>
            <a:br/>
            <a:r>
              <a:t>Control Variables:</a:t>
            </a:r>
            <a:br/>
            <a:r>
              <a:t>• Prompt</a:t>
            </a:r>
            <a:br/>
            <a:r>
              <a:t>• Scenario</a:t>
            </a:r>
            <a:br/>
            <a:r>
              <a:t>• Model settings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Transition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10972800" cy="5212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/>
            </a:pPr>
            <a:r>
              <a:t>Next Section:</a:t>
            </a:r>
            <a:br/>
            <a:r>
              <a:t>Data Collection</a:t>
            </a:r>
            <a:br/>
            <a:br/>
            <a:r>
              <a:t>This section explains how responses were collected, stored and prepared for NLP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