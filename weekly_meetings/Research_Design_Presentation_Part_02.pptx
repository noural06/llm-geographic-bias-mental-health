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key points on 11. Data Collection and relate them to the dissertation methodology and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key points on 12. Data Cleaning and relate them to the dissertation methodology and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key points on 13. NLP Feature Extraction and relate them to the dissertation methodology and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key points on 14. Statistical Analysis and relate them to the dissertation methodology and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key points on 15. Results: RQ1 and relate them to the dissertation methodology and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key points on 16. Results: RQ2 and relate them to the dissertation methodology and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key points on 17. Results: RQ3 and relate them to the dissertation methodology and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key points on 18. Results: RQ4 and relate them to the dissertation methodology and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key points on 19. Conclusions and relate them to the dissertation methodology and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key points on 20. Limitations &amp; Future Work and relate them to the dissertation methodology and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11.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20 cities</a:t>
            </a:r>
          </a:p>
          <a:p>
            <a:pPr>
              <a:defRPr sz="2200"/>
            </a:pPr>
            <a:r>
              <a:t>8 mental health scenarios</a:t>
            </a:r>
          </a:p>
          <a:p>
            <a:pPr>
              <a:defRPr sz="2200"/>
            </a:pPr>
            <a:r>
              <a:t>7 large language models</a:t>
            </a:r>
          </a:p>
          <a:p>
            <a:pPr>
              <a:defRPr sz="2200"/>
            </a:pPr>
            <a:r>
              <a:t>1,120 AI-generated responses</a:t>
            </a:r>
          </a:p>
          <a:p>
            <a:pPr>
              <a:defRPr sz="2200"/>
            </a:pPr>
            <a:r>
              <a:t>Standardised prompts with location as the only varying factor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12. 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Merged response files</a:t>
            </a:r>
          </a:p>
          <a:p>
            <a:pPr>
              <a:defRPr sz="2200"/>
            </a:pPr>
            <a:r>
              <a:t>Removed reasoning artifacts (e.g., &lt;think&gt; blocks)</a:t>
            </a:r>
          </a:p>
          <a:p>
            <a:pPr>
              <a:defRPr sz="2200"/>
            </a:pPr>
            <a:r>
              <a:t>Standardised city/model names</a:t>
            </a:r>
          </a:p>
          <a:p>
            <a:pPr>
              <a:defRPr sz="2200"/>
            </a:pPr>
            <a:r>
              <a:t>Validated completeness and duplicates</a:t>
            </a:r>
          </a:p>
          <a:p>
            <a:pPr>
              <a:defRPr sz="2200"/>
            </a:pPr>
            <a:r>
              <a:t>Prepared analysis-ready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13. NLP Feature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Word count</a:t>
            </a:r>
          </a:p>
          <a:p>
            <a:pPr>
              <a:defRPr sz="2200"/>
            </a:pPr>
            <a:r>
              <a:t>Emergency contacts</a:t>
            </a:r>
          </a:p>
          <a:p>
            <a:pPr>
              <a:defRPr sz="2200"/>
            </a:pPr>
            <a:r>
              <a:t>URLs and phone numbers</a:t>
            </a:r>
          </a:p>
          <a:p>
            <a:pPr>
              <a:defRPr sz="2200"/>
            </a:pPr>
            <a:r>
              <a:t>Professional, family, community and religious support</a:t>
            </a:r>
          </a:p>
          <a:p>
            <a:pPr>
              <a:defRPr sz="2200"/>
            </a:pPr>
            <a:r>
              <a:t>Sentiment and response specificity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14. Statistical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Descriptive statistics</a:t>
            </a:r>
          </a:p>
          <a:p>
            <a:pPr>
              <a:defRPr sz="2200"/>
            </a:pPr>
            <a:r>
              <a:t>Kruskal–Wallis tests</a:t>
            </a:r>
          </a:p>
          <a:p>
            <a:pPr>
              <a:defRPr sz="2200"/>
            </a:pPr>
            <a:r>
              <a:t>Chi-square tests</a:t>
            </a:r>
          </a:p>
          <a:p>
            <a:pPr>
              <a:defRPr sz="2200"/>
            </a:pPr>
            <a:r>
              <a:t>Spearman correlations</a:t>
            </a:r>
          </a:p>
          <a:p>
            <a:pPr>
              <a:defRPr sz="2200"/>
            </a:pPr>
            <a:r>
              <a:t>Benjamini–Hochberg correction and effect sizes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15. Results: RQ1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Compared response characteristics across geographic contexts</a:t>
            </a:r>
          </a:p>
          <a:p>
            <a:pPr>
              <a:defRPr sz="2200"/>
            </a:pPr>
            <a:r>
              <a:t>Measured variation in response effort</a:t>
            </a:r>
          </a:p>
          <a:p>
            <a:pPr>
              <a:defRPr sz="2200"/>
            </a:pPr>
            <a:r>
              <a:t>Examined statistical significance</a:t>
            </a:r>
          </a:p>
          <a:p>
            <a:pPr>
              <a:defRPr sz="2200"/>
            </a:pPr>
            <a:r>
              <a:t>Interpretation of observed differences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16. Results: RQ2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Compared actionability by income group</a:t>
            </a:r>
          </a:p>
          <a:p>
            <a:pPr>
              <a:defRPr sz="2200"/>
            </a:pPr>
            <a:r>
              <a:t>Assessed specificity of recommendations</a:t>
            </a:r>
          </a:p>
          <a:p>
            <a:pPr>
              <a:defRPr sz="2200"/>
            </a:pPr>
            <a:r>
              <a:t>Evaluated crisis contact provision</a:t>
            </a:r>
          </a:p>
          <a:p>
            <a:pPr>
              <a:defRPr sz="2200"/>
            </a:pPr>
            <a:r>
              <a:t>Identified significant disparities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17. Results: 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Analysed cultural framing</a:t>
            </a:r>
          </a:p>
          <a:p>
            <a:pPr>
              <a:defRPr sz="2200"/>
            </a:pPr>
            <a:r>
              <a:t>Professional vs family support</a:t>
            </a:r>
          </a:p>
          <a:p>
            <a:pPr>
              <a:defRPr sz="2200"/>
            </a:pPr>
            <a:r>
              <a:t>Religious references</a:t>
            </a:r>
          </a:p>
          <a:p>
            <a:pPr>
              <a:defRPr sz="2200"/>
            </a:pPr>
            <a:r>
              <a:t>WHO regional comparisons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18. Results: RQ4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Compared seven LLMs</a:t>
            </a:r>
          </a:p>
          <a:p>
            <a:pPr>
              <a:defRPr sz="2200"/>
            </a:pPr>
            <a:r>
              <a:t>Estimated model effect sizes</a:t>
            </a:r>
          </a:p>
          <a:p>
            <a:pPr>
              <a:defRPr sz="2200"/>
            </a:pPr>
            <a:r>
              <a:t>Separated model effects from geographic effects</a:t>
            </a:r>
          </a:p>
          <a:p>
            <a:pPr>
              <a:defRPr sz="2200"/>
            </a:pPr>
            <a:r>
              <a:t>Implications for benchmarking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19.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Geographic context influenced response content</a:t>
            </a:r>
          </a:p>
          <a:p>
            <a:pPr>
              <a:defRPr sz="2200"/>
            </a:pPr>
            <a:r>
              <a:t>Actionability varied across settings</a:t>
            </a:r>
          </a:p>
          <a:p>
            <a:pPr>
              <a:defRPr sz="2200"/>
            </a:pPr>
            <a:r>
              <a:t>Model identity remained an important factor</a:t>
            </a:r>
          </a:p>
          <a:p>
            <a:pPr>
              <a:defRPr sz="2200"/>
            </a:pPr>
            <a:r>
              <a:t>Findings inform safer global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20. 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Single city per country</a:t>
            </a:r>
          </a:p>
          <a:p>
            <a:pPr>
              <a:defRPr sz="2200"/>
            </a:pPr>
            <a:r>
              <a:t>Automated coding limitations</a:t>
            </a:r>
          </a:p>
          <a:p>
            <a:pPr>
              <a:defRPr sz="2200"/>
            </a:pPr>
            <a:r>
              <a:t>Manual validation recommended</a:t>
            </a:r>
          </a:p>
          <a:p>
            <a:pPr>
              <a:defRPr sz="2200"/>
            </a:pPr>
            <a:r>
              <a:t>Future multilingual and longitudinal studies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